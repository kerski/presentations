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notesMaster" Target="notesMasters/notesMaster1.xml" /><Relationship Id="rId31" Type="http://schemas.openxmlformats.org/officeDocument/2006/relationships/viewProps" Target="viewProps.xml" /><Relationship Id="rId30" Type="http://schemas.openxmlformats.org/officeDocument/2006/relationships/presProps" Target="presProps.xml" /><Relationship Id="rId1" Type="http://schemas.openxmlformats.org/officeDocument/2006/relationships/slideMaster" Target="slideMasters/slideMaster1.xml" /><Relationship Id="rId33" Type="http://schemas.openxmlformats.org/officeDocument/2006/relationships/tableStyles" Target="tableStyles.xml" /><Relationship Id="rId3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Brief intro: name, background, why this topic matters. Mention that the goal is to show practical patterns — not just theory.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each agenda item at a high level so attendees know what to expect. Emphasize the “practical patterns” angle.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accessible — assume mixed audience of analysts, developers, and business users. Avoid deep technical jargon. Use the “autocomplete on steroids” analogy.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terms will come up repeatedly in demos. Briefly define each one so attendees can follow along later.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each capability in terms of a real analyst pain point. For example: “How often have you stared at a DAX error and wished you could just ask someone what it means?”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Audience may already be familiar with M365 Copilot. Emphasize that Power BI Copilot is a subset — and Azure OpenAI opens up custom scenarios beyond what the built-in copilot offers.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Licensing note is important — many attendees may not have access yet. Be honest about the capacity requirement. The “limited to data in the model” point sets up why custom Azure OpenAI integrations are valuable.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the spectrum from “no code” to “full code.” Different roles in the room will gravitate toward different options. Briefly tease the demo approach (Fabric Notebooks).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a real before/after: the analyst’s plain-English question vs. the generated DAX. Highlight that schema context in the prompt is the key to accuracy.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immediately useful pattern for business users. The “executive summary” use case resonates well. Mention that you can bake guardrails into the system prompt (tone, length, forbidden topics).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complex pattern — save for the demo or a future deep-dive session. Key point: the LLM doesn’t query the data directly; it generates the query, which keeps data governance intact.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section that separates “interesting demo” from “production-ready solution.” Compliance and legal teams will ask these questions, so address them proactively.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each item. Mention that Microsoft’s Responsible AI principles apply here. If your org has a data governance framework, LLM usage should be an addendum to it.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the notebook code live. Key things to highlight: the system prompt (controls tone and format), the API call (show the request payload), and the write-back to the Lakehouse.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the schema extraction step — this is what makes the output accurate. Without context, the LLM guesses column names and usually gets them wrong.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the main message: “Start with the narrative summary pattern — it’s the lowest risk and highest visible impact for stakeholders.”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attendees clear, actionable steps. Mention that the slide source and demo notebooks are available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 this slide on screen during Q&amp;A. Encourage people to scan the GitHub link to get the demo files.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the floor for questions. If time allows, offer to do a quick live demo of any pattern that resonated most with the audience.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hyperlink" Target="https://github.com/kerski/presentations" TargetMode="Externa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learn.microsoft.com/en-us/power-bi/create-reports/copilot-introduction" TargetMode="External" /><Relationship Id="rId4" Type="http://schemas.openxmlformats.org/officeDocument/2006/relationships/hyperlink" Target="https://learn.microsoft.com/en-us/azure/ai-services/openai/" TargetMode="External" /><Relationship Id="rId5" Type="http://schemas.openxmlformats.org/officeDocument/2006/relationships/hyperlink" Target="https://learn.microsoft.com/en-us/fabric/data-engineering/how-to-use-notebook" TargetMode="External" /><Relationship Id="rId6" Type="http://schemas.openxmlformats.org/officeDocument/2006/relationships/hyperlink" Target="https://www.microsoft.com/en-us/ai/responsible-ai" TargetMode="External" /><Relationship Id="rId7" Type="http://schemas.openxmlformats.org/officeDocument/2006/relationships/hyperlink" Target="https://github.com/kerski/presentations"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Leveraging Large Language Models with Power BI</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Kerski</a:t>
            </a:r>
          </a:p>
        </p:txBody>
      </p:sp>
      <p:sp>
        <p:nvSpPr>
          <p:cNvPr id="4" name="Date Placeholder 3"/>
          <p:cNvSpPr>
            <a:spLocks noGrp="1"/>
          </p:cNvSpPr>
          <p:nvPr>
            <p:ph idx="10" sz="half" type="dt"/>
          </p:nvPr>
        </p:nvSpPr>
        <p:spPr/>
        <p:txBody>
          <a:bodyPr/>
          <a:lstStyle/>
          <a:p>
            <a:pPr lvl="0" indent="0" marL="0">
              <a:buNone/>
            </a:pPr>
            <a:r>
              <a:rPr/>
              <a:t>2026-04-11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Am I?</a:t>
            </a:r>
          </a:p>
        </p:txBody>
      </p:sp>
      <p:sp>
        <p:nvSpPr>
          <p:cNvPr id="3" name="Content Placeholder 2"/>
          <p:cNvSpPr>
            <a:spLocks noGrp="1"/>
          </p:cNvSpPr>
          <p:nvPr>
            <p:ph idx="1"/>
          </p:nvPr>
        </p:nvSpPr>
        <p:spPr/>
        <p:txBody>
          <a:bodyPr/>
          <a:lstStyle/>
          <a:p>
            <a:pPr lvl="0"/>
            <a:r>
              <a:rPr/>
              <a:t>Power BI developer and architect</a:t>
            </a:r>
          </a:p>
          <a:p>
            <a:pPr lvl="0"/>
            <a:r>
              <a:rPr/>
              <a:t>Microsoft MVP</a:t>
            </a:r>
          </a:p>
          <a:p>
            <a:pPr lvl="0"/>
            <a:r>
              <a:rPr/>
              <a:t>Focused on DataOps and automated testing for Power BI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What are Large Language Models (LLMs)?</a:t>
            </a:r>
          </a:p>
          <a:p>
            <a:pPr lvl="0"/>
            <a:r>
              <a:rPr/>
              <a:t>LLMs in the Microsoft Ecosystem</a:t>
            </a:r>
          </a:p>
          <a:p>
            <a:pPr lvl="0"/>
            <a:r>
              <a:rPr/>
              <a:t>Integrating LLMs with Power BI</a:t>
            </a:r>
          </a:p>
          <a:p>
            <a:pPr lvl="0"/>
            <a:r>
              <a:rPr/>
              <a:t>Patterns: DAX Generation, Narrative Summaries, Q&amp;A</a:t>
            </a:r>
          </a:p>
          <a:p>
            <a:pPr lvl="0"/>
            <a:r>
              <a:rPr/>
              <a:t>Guardrails and Governance</a:t>
            </a:r>
          </a:p>
          <a:p>
            <a:pPr lvl="0"/>
            <a:r>
              <a:rPr/>
              <a:t>Live Demo</a:t>
            </a:r>
          </a:p>
          <a:p>
            <a:pPr lvl="0"/>
            <a:r>
              <a:rPr/>
              <a:t>Key Takeaways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What Are Large Language Models?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LLMs in Plain Language</a:t>
            </a:r>
          </a:p>
        </p:txBody>
      </p:sp>
      <p:sp>
        <p:nvSpPr>
          <p:cNvPr id="3" name="Content Placeholder 2"/>
          <p:cNvSpPr>
            <a:spLocks noGrp="1"/>
          </p:cNvSpPr>
          <p:nvPr>
            <p:ph idx="1"/>
          </p:nvPr>
        </p:nvSpPr>
        <p:spPr/>
        <p:txBody>
          <a:bodyPr/>
          <a:lstStyle/>
          <a:p>
            <a:pPr lvl="0"/>
            <a:r>
              <a:rPr/>
              <a:t>Statistical models trained on vast amounts of text</a:t>
            </a:r>
          </a:p>
          <a:p>
            <a:pPr lvl="0"/>
            <a:r>
              <a:rPr/>
              <a:t>Predict the next most-likely token (word/subword)</a:t>
            </a:r>
          </a:p>
          <a:p>
            <a:pPr lvl="0"/>
            <a:r>
              <a:rPr/>
              <a:t>Emergent ability: reasoning, summarization, code generation</a:t>
            </a:r>
          </a:p>
          <a:p>
            <a:pPr lvl="0"/>
            <a:r>
              <a:rPr/>
              <a:t>Well-known examples: GPT-4, Llama 3, Mistral, Gemini</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Concepts</a:t>
            </a:r>
          </a:p>
        </p:txBody>
      </p:sp>
      <p:sp>
        <p:nvSpPr>
          <p:cNvPr id="3" name="Content Placeholder 2"/>
          <p:cNvSpPr>
            <a:spLocks noGrp="1"/>
          </p:cNvSpPr>
          <p:nvPr>
            <p:ph idx="1"/>
          </p:nvPr>
        </p:nvSpPr>
        <p:spPr/>
        <p:txBody>
          <a:bodyPr/>
          <a:lstStyle/>
          <a:p>
            <a:pPr lvl="0"/>
            <a:r>
              <a:rPr b="1"/>
              <a:t>Prompt</a:t>
            </a:r>
            <a:r>
              <a:rPr/>
              <a:t>: The instruction or question you send to the model</a:t>
            </a:r>
          </a:p>
          <a:p>
            <a:pPr lvl="0"/>
            <a:r>
              <a:rPr b="1"/>
              <a:t>Completion</a:t>
            </a:r>
            <a:r>
              <a:rPr/>
              <a:t>: The model’s response</a:t>
            </a:r>
          </a:p>
          <a:p>
            <a:pPr lvl="0"/>
            <a:r>
              <a:rPr b="1"/>
              <a:t>Context Window</a:t>
            </a:r>
            <a:r>
              <a:rPr/>
              <a:t>: How much text the model can “see” at once</a:t>
            </a:r>
          </a:p>
          <a:p>
            <a:pPr lvl="0"/>
            <a:r>
              <a:rPr b="1"/>
              <a:t>Temperature</a:t>
            </a:r>
            <a:r>
              <a:rPr/>
              <a:t>: Controls creativity/randomness in responses</a:t>
            </a:r>
          </a:p>
          <a:p>
            <a:pPr lvl="0"/>
            <a:r>
              <a:rPr b="1"/>
              <a:t>Tokens</a:t>
            </a:r>
            <a:r>
              <a:rPr/>
              <a:t>: The unit of input/output the model charges and limits by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Capabilities Relevant to Analytics</a:t>
            </a:r>
          </a:p>
        </p:txBody>
      </p:sp>
      <p:sp>
        <p:nvSpPr>
          <p:cNvPr id="3" name="Content Placeholder 2"/>
          <p:cNvSpPr>
            <a:spLocks noGrp="1"/>
          </p:cNvSpPr>
          <p:nvPr>
            <p:ph idx="1"/>
          </p:nvPr>
        </p:nvSpPr>
        <p:spPr/>
        <p:txBody>
          <a:bodyPr/>
          <a:lstStyle/>
          <a:p>
            <a:pPr lvl="0"/>
            <a:r>
              <a:rPr/>
              <a:t>Natural language to code (DAX, SQL, M/Power Query)</a:t>
            </a:r>
          </a:p>
          <a:p>
            <a:pPr lvl="0"/>
            <a:r>
              <a:rPr/>
              <a:t>Summarizing data findings in plain language</a:t>
            </a:r>
          </a:p>
          <a:p>
            <a:pPr lvl="0"/>
            <a:r>
              <a:rPr/>
              <a:t>Classifying or tagging text columns</a:t>
            </a:r>
          </a:p>
          <a:p>
            <a:pPr lvl="0"/>
            <a:r>
              <a:rPr/>
              <a:t>Anomaly explanations in plain English</a:t>
            </a:r>
          </a:p>
          <a:p>
            <a:pPr lvl="0"/>
            <a:r>
              <a:rPr/>
              <a:t>Q&amp;A over structured data</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LLMs in the Microsoft Ecosystem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Microsoft Copilot Services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Service</a:t>
                      </a:r>
                    </a:p>
                  </a:txBody>
                  <a:tcPr/>
                </a:tc>
                <a:tc>
                  <a:txBody>
                    <a:bodyPr/>
                    <a:lstStyle/>
                    <a:p>
                      <a:pPr lvl="0" indent="0" marL="0">
                        <a:buNone/>
                      </a:pPr>
                      <a:r>
                        <a:rPr/>
                        <a:t>Use Case</a:t>
                      </a:r>
                    </a:p>
                  </a:txBody>
                  <a:tcPr/>
                </a:tc>
              </a:tr>
              <a:tr h="0">
                <a:tc>
                  <a:txBody>
                    <a:bodyPr/>
                    <a:lstStyle/>
                    <a:p>
                      <a:pPr lvl="0" indent="0" marL="0">
                        <a:buNone/>
                      </a:pPr>
                      <a:r>
                        <a:rPr/>
                        <a:t>Microsoft 365 Copilot</a:t>
                      </a:r>
                    </a:p>
                  </a:txBody>
                </a:tc>
                <a:tc>
                  <a:txBody>
                    <a:bodyPr/>
                    <a:lstStyle/>
                    <a:p>
                      <a:pPr lvl="0" indent="0" marL="0">
                        <a:buNone/>
                      </a:pPr>
                      <a:r>
                        <a:rPr/>
                        <a:t>Word, Excel, Teams, Outlook</a:t>
                      </a:r>
                    </a:p>
                  </a:txBody>
                </a:tc>
              </a:tr>
              <a:tr h="0">
                <a:tc>
                  <a:txBody>
                    <a:bodyPr/>
                    <a:lstStyle/>
                    <a:p>
                      <a:pPr lvl="0" indent="0" marL="0">
                        <a:buNone/>
                      </a:pPr>
                      <a:r>
                        <a:rPr/>
                        <a:t>GitHub Copilot</a:t>
                      </a:r>
                    </a:p>
                  </a:txBody>
                </a:tc>
                <a:tc>
                  <a:txBody>
                    <a:bodyPr/>
                    <a:lstStyle/>
                    <a:p>
                      <a:pPr lvl="0" indent="0" marL="0">
                        <a:buNone/>
                      </a:pPr>
                      <a:r>
                        <a:rPr/>
                        <a:t>Code completion and review</a:t>
                      </a:r>
                    </a:p>
                  </a:txBody>
                </a:tc>
              </a:tr>
              <a:tr h="0">
                <a:tc>
                  <a:txBody>
                    <a:bodyPr/>
                    <a:lstStyle/>
                    <a:p>
                      <a:pPr lvl="0" indent="0" marL="0">
                        <a:buNone/>
                      </a:pPr>
                      <a:r>
                        <a:rPr/>
                        <a:t>Power Platform Copilot</a:t>
                      </a:r>
                    </a:p>
                  </a:txBody>
                </a:tc>
                <a:tc>
                  <a:txBody>
                    <a:bodyPr/>
                    <a:lstStyle/>
                    <a:p>
                      <a:pPr lvl="0" indent="0" marL="0">
                        <a:buNone/>
                      </a:pPr>
                      <a:r>
                        <a:rPr/>
                        <a:t>Low-code automation and Power BI</a:t>
                      </a:r>
                    </a:p>
                  </a:txBody>
                </a:tc>
              </a:tr>
              <a:tr h="0">
                <a:tc>
                  <a:txBody>
                    <a:bodyPr/>
                    <a:lstStyle/>
                    <a:p>
                      <a:pPr lvl="0" indent="0" marL="0">
                        <a:buNone/>
                      </a:pPr>
                      <a:r>
                        <a:rPr/>
                        <a:t>Azure OpenAI Service</a:t>
                      </a:r>
                    </a:p>
                  </a:txBody>
                </a:tc>
                <a:tc>
                  <a:txBody>
                    <a:bodyPr/>
                    <a:lstStyle/>
                    <a:p>
                      <a:pPr lvl="0" indent="0" marL="0">
                        <a:buNone/>
                      </a:pPr>
                      <a:r>
                        <a:rPr/>
                        <a:t>Custom LLM integrations via API</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Copilot in Power BI</a:t>
            </a:r>
          </a:p>
        </p:txBody>
      </p:sp>
      <p:sp>
        <p:nvSpPr>
          <p:cNvPr id="3" name="Content Placeholder 2"/>
          <p:cNvSpPr>
            <a:spLocks noGrp="1"/>
          </p:cNvSpPr>
          <p:nvPr>
            <p:ph idx="1"/>
          </p:nvPr>
        </p:nvSpPr>
        <p:spPr/>
        <p:txBody>
          <a:bodyPr/>
          <a:lstStyle/>
          <a:p>
            <a:pPr lvl="0"/>
            <a:r>
              <a:rPr/>
              <a:t>Available in Fabric-enabled workspaces (F64+ or P1+)</a:t>
            </a:r>
          </a:p>
          <a:p>
            <a:pPr lvl="0"/>
            <a:r>
              <a:rPr/>
              <a:t>Features:</a:t>
            </a:r>
          </a:p>
          <a:p>
            <a:pPr lvl="1"/>
            <a:r>
              <a:rPr/>
              <a:t>Natural language report creation</a:t>
            </a:r>
          </a:p>
          <a:p>
            <a:pPr lvl="1"/>
            <a:r>
              <a:rPr/>
              <a:t>AI-generated narrative visuals</a:t>
            </a:r>
          </a:p>
          <a:p>
            <a:pPr lvl="1"/>
            <a:r>
              <a:rPr/>
              <a:t>DAX query suggestions</a:t>
            </a:r>
          </a:p>
          <a:p>
            <a:pPr lvl="1"/>
            <a:r>
              <a:rPr/>
              <a:t>Report summarization</a:t>
            </a:r>
          </a:p>
          <a:p>
            <a:pPr lvl="0"/>
            <a:r>
              <a:rPr/>
              <a:t>Limited to data already in the semantic model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Integrating LLMs with Power BI</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Integration Architecture Options</a:t>
            </a:r>
          </a:p>
        </p:txBody>
      </p:sp>
      <p:sp>
        <p:nvSpPr>
          <p:cNvPr id="3" name="Content Placeholder 2"/>
          <p:cNvSpPr>
            <a:spLocks noGrp="1"/>
          </p:cNvSpPr>
          <p:nvPr>
            <p:ph idx="1"/>
          </p:nvPr>
        </p:nvSpPr>
        <p:spPr/>
        <p:txBody>
          <a:bodyPr/>
          <a:lstStyle/>
          <a:p>
            <a:pPr lvl="0" indent="-342900" marL="342900">
              <a:buAutoNum type="arabicPeriod"/>
            </a:pPr>
            <a:r>
              <a:rPr b="1"/>
              <a:t>Power BI Copilot</a:t>
            </a:r>
            <a:r>
              <a:rPr/>
              <a:t> – Built-in, no code required</a:t>
            </a:r>
          </a:p>
          <a:p>
            <a:pPr lvl="0" indent="-342900" marL="342900">
              <a:buAutoNum type="arabicPeriod"/>
            </a:pPr>
            <a:r>
              <a:rPr b="1"/>
              <a:t>Power Automate + Azure OpenAI</a:t>
            </a:r>
            <a:r>
              <a:rPr/>
              <a:t> – Trigger flows from reports</a:t>
            </a:r>
          </a:p>
          <a:p>
            <a:pPr lvl="0" indent="-342900" marL="342900">
              <a:buAutoNum type="arabicPeriod"/>
            </a:pPr>
            <a:r>
              <a:rPr b="1"/>
              <a:t>Fabric Notebooks (Python)</a:t>
            </a:r>
            <a:r>
              <a:rPr/>
              <a:t> – Call OpenAI API; write results to Lakehouse</a:t>
            </a:r>
          </a:p>
          <a:p>
            <a:pPr lvl="0" indent="-342900" marL="342900">
              <a:buAutoNum type="arabicPeriod"/>
            </a:pPr>
            <a:r>
              <a:rPr b="1"/>
              <a:t>Custom Visuals</a:t>
            </a:r>
            <a:r>
              <a:rPr/>
              <a:t> – Embed LLM calls inside a React/D3 visual</a:t>
            </a:r>
          </a:p>
          <a:p>
            <a:pPr lvl="0" indent="-342900" marL="342900">
              <a:buAutoNum type="arabicPeriod"/>
            </a:pPr>
            <a:r>
              <a:rPr b="1"/>
              <a:t>Dataflow Gen2 + Power Query</a:t>
            </a:r>
            <a:r>
              <a:rPr/>
              <a:t> – Call HTTP APIs inside M</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Pattern 1 — DAX Generation</a:t>
            </a:r>
          </a:p>
        </p:txBody>
      </p:sp>
      <p:sp>
        <p:nvSpPr>
          <p:cNvPr id="3" name="Content Placeholder 2"/>
          <p:cNvSpPr>
            <a:spLocks noGrp="1"/>
          </p:cNvSpPr>
          <p:nvPr>
            <p:ph idx="1"/>
          </p:nvPr>
        </p:nvSpPr>
        <p:spPr/>
        <p:txBody>
          <a:bodyPr/>
          <a:lstStyle/>
          <a:p>
            <a:pPr lvl="0"/>
            <a:r>
              <a:rPr/>
              <a:t>Prompt the LLM with your schema (table names, column names, relationships)</a:t>
            </a:r>
          </a:p>
          <a:p>
            <a:pPr lvl="0"/>
            <a:r>
              <a:rPr/>
              <a:t>Ask it to write a DAX measure in plain English</a:t>
            </a:r>
          </a:p>
          <a:p>
            <a:pPr lvl="0"/>
            <a:r>
              <a:rPr/>
              <a:t>Paste the result into Power BI Desktop or validate via XMLA</a:t>
            </a:r>
          </a:p>
          <a:p>
            <a:pPr lvl="0" indent="0" marL="0">
              <a:buNone/>
            </a:pPr>
            <a:r>
              <a:rPr b="1"/>
              <a:t>Example prompt:</a:t>
            </a:r>
            <a:r>
              <a:rPr/>
              <a:t> &gt; “Given a Sales table with columns OrderDate, Revenue, and CustomerID, write a DAX measure for Month-over-Month revenue growth.”</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Pattern 2 — AI-Powered Narrative Summaries</a:t>
            </a:r>
          </a:p>
        </p:txBody>
      </p:sp>
      <p:sp>
        <p:nvSpPr>
          <p:cNvPr id="3" name="Content Placeholder 2"/>
          <p:cNvSpPr>
            <a:spLocks noGrp="1"/>
          </p:cNvSpPr>
          <p:nvPr>
            <p:ph idx="1"/>
          </p:nvPr>
        </p:nvSpPr>
        <p:spPr/>
        <p:txBody>
          <a:bodyPr/>
          <a:lstStyle/>
          <a:p>
            <a:pPr lvl="0"/>
            <a:r>
              <a:rPr/>
              <a:t>Serialize key metrics from your report as structured text</a:t>
            </a:r>
          </a:p>
          <a:p>
            <a:pPr lvl="0"/>
            <a:r>
              <a:rPr/>
              <a:t>Send to Azure OpenAI with a system prompt like: “You are a data analyst. Summarize these KPIs for an executive audience.”</a:t>
            </a:r>
          </a:p>
          <a:p>
            <a:pPr lvl="0"/>
            <a:r>
              <a:rPr/>
              <a:t>Display the response in a Text visual or custom visual</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Pattern 3 — Natural Language Q&amp;A on Tabular Data</a:t>
            </a:r>
          </a:p>
        </p:txBody>
      </p:sp>
      <p:sp>
        <p:nvSpPr>
          <p:cNvPr id="3" name="Content Placeholder 2"/>
          <p:cNvSpPr>
            <a:spLocks noGrp="1"/>
          </p:cNvSpPr>
          <p:nvPr>
            <p:ph idx="1"/>
          </p:nvPr>
        </p:nvSpPr>
        <p:spPr/>
        <p:txBody>
          <a:bodyPr/>
          <a:lstStyle/>
          <a:p>
            <a:pPr lvl="0"/>
            <a:r>
              <a:rPr/>
              <a:t>Use Azure OpenAI’s function-calling feature to translate questions to DAX</a:t>
            </a:r>
          </a:p>
          <a:p>
            <a:pPr lvl="0"/>
            <a:r>
              <a:rPr/>
              <a:t>Execute DAX via XMLA endpoint</a:t>
            </a:r>
          </a:p>
          <a:p>
            <a:pPr lvl="0"/>
            <a:r>
              <a:rPr/>
              <a:t>Return results to the LLM for a natural language answer</a:t>
            </a:r>
          </a:p>
          <a:p>
            <a:pPr lvl="0"/>
            <a:r>
              <a:rPr/>
              <a:t>Display in a chat interface inside the report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Guardrails and Governance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Guardrails Matter</a:t>
            </a:r>
          </a:p>
        </p:txBody>
      </p:sp>
      <p:sp>
        <p:nvSpPr>
          <p:cNvPr id="3" name="Content Placeholder 2"/>
          <p:cNvSpPr>
            <a:spLocks noGrp="1"/>
          </p:cNvSpPr>
          <p:nvPr>
            <p:ph idx="1"/>
          </p:nvPr>
        </p:nvSpPr>
        <p:spPr/>
        <p:txBody>
          <a:bodyPr/>
          <a:lstStyle/>
          <a:p>
            <a:pPr lvl="0"/>
            <a:r>
              <a:rPr/>
              <a:t>LLMs can “hallucinate” — generate plausible but incorrect information</a:t>
            </a:r>
          </a:p>
          <a:p>
            <a:pPr lvl="0"/>
            <a:r>
              <a:rPr/>
              <a:t>Sensitive data must not leave your tenant boundary</a:t>
            </a:r>
          </a:p>
          <a:p>
            <a:pPr lvl="0"/>
            <a:r>
              <a:rPr/>
              <a:t>Generated DAX or SQL must be validated before execution</a:t>
            </a:r>
          </a:p>
          <a:p>
            <a:pPr lvl="0"/>
            <a:r>
              <a:rPr/>
              <a:t>Cost can escalate without usage controls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Checklist</a:t>
            </a:r>
          </a:p>
        </p:txBody>
      </p:sp>
      <p:sp>
        <p:nvSpPr>
          <p:cNvPr id="3" name="Content Placeholder 2"/>
          <p:cNvSpPr>
            <a:spLocks noGrp="1"/>
          </p:cNvSpPr>
          <p:nvPr>
            <p:ph idx="1"/>
          </p:nvPr>
        </p:nvSpPr>
        <p:spPr/>
        <p:txBody>
          <a:bodyPr/>
          <a:lstStyle/>
          <a:p>
            <a:pPr lvl="0"/>
            <a:r>
              <a:rPr/>
              <a:t>✅ Use Azure OpenAI (data stays in your Azure tenant)</a:t>
            </a:r>
          </a:p>
          <a:p>
            <a:pPr lvl="0"/>
            <a:r>
              <a:rPr/>
              <a:t>✅ Apply Row-Level Security before passing data to LLM</a:t>
            </a:r>
          </a:p>
          <a:p>
            <a:pPr lvl="0"/>
            <a:r>
              <a:rPr/>
              <a:t>✅ Log all prompts and completions for audit</a:t>
            </a:r>
          </a:p>
          <a:p>
            <a:pPr lvl="0"/>
            <a:r>
              <a:rPr/>
              <a:t>✅ Validate generated code in a sandbox before execution</a:t>
            </a:r>
          </a:p>
          <a:p>
            <a:pPr lvl="0"/>
            <a:r>
              <a:rPr/>
              <a:t>✅ Set </a:t>
            </a:r>
            <a:r>
              <a:rPr>
                <a:latin typeface="Courier"/>
              </a:rPr>
              <a:t>max_tokens</a:t>
            </a:r>
            <a:r>
              <a:rPr/>
              <a:t> and cost alerts in Azure</a:t>
            </a:r>
          </a:p>
          <a:p>
            <a:pPr lvl="0"/>
            <a:r>
              <a:rPr/>
              <a:t>✅ Include data classification in your system prompt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Demo</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Fabric Notebook → Power BI</a:t>
            </a:r>
          </a:p>
        </p:txBody>
      </p:sp>
      <p:sp>
        <p:nvSpPr>
          <p:cNvPr id="3" name="Content Placeholder 2"/>
          <p:cNvSpPr>
            <a:spLocks noGrp="1"/>
          </p:cNvSpPr>
          <p:nvPr>
            <p:ph idx="1"/>
          </p:nvPr>
        </p:nvSpPr>
        <p:spPr/>
        <p:txBody>
          <a:bodyPr/>
          <a:lstStyle/>
          <a:p>
            <a:pPr lvl="0" indent="0" marL="0">
              <a:buNone/>
            </a:pPr>
            <a:r>
              <a:rPr b="1"/>
              <a:t>Scenario:</a:t>
            </a:r>
            <a:r>
              <a:rPr/>
              <a:t> An analyst wants an AI-generated executive summary of monthly sales KPIs, refreshed automatically with each dataset refresh.</a:t>
            </a:r>
          </a:p>
          <a:p>
            <a:pPr lvl="0" indent="0" marL="0">
              <a:buNone/>
            </a:pPr>
            <a:r>
              <a:rPr b="1"/>
              <a:t>Steps:</a:t>
            </a:r>
            <a:r>
              <a:rPr/>
              <a:t> 1. Fabric Notebook calls Azure OpenAI API with the current KPIs 2. Summary text is written to a Lakehouse Delta table 3. Power BI semantic model reads from the Lakehouse 4. A Text visual in the report displays the AI summary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DAX Generation with Schema Context</a:t>
            </a:r>
          </a:p>
        </p:txBody>
      </p:sp>
      <p:sp>
        <p:nvSpPr>
          <p:cNvPr id="3" name="Content Placeholder 2"/>
          <p:cNvSpPr>
            <a:spLocks noGrp="1"/>
          </p:cNvSpPr>
          <p:nvPr>
            <p:ph idx="1"/>
          </p:nvPr>
        </p:nvSpPr>
        <p:spPr/>
        <p:txBody>
          <a:bodyPr/>
          <a:lstStyle/>
          <a:p>
            <a:pPr lvl="0" indent="0" marL="0">
              <a:buNone/>
            </a:pPr>
            <a:r>
              <a:rPr b="1"/>
              <a:t>Scenario:</a:t>
            </a:r>
            <a:r>
              <a:rPr/>
              <a:t> Generate a complex time-intelligence DAX measure from plain English.</a:t>
            </a:r>
          </a:p>
          <a:p>
            <a:pPr lvl="0" indent="0" marL="0">
              <a:buNone/>
            </a:pPr>
            <a:r>
              <a:rPr b="1"/>
              <a:t>Steps:</a:t>
            </a:r>
            <a:r>
              <a:rPr/>
              <a:t> 1. Extract table/column names from the semantic model via XMLA 2. Build a prompt: “Given this schema, write a DAX measure for…” 3. Send to Azure OpenAI 4. Display and validate the generated measure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Key Takeaways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Covered</a:t>
            </a:r>
          </a:p>
        </p:txBody>
      </p:sp>
      <p:sp>
        <p:nvSpPr>
          <p:cNvPr id="3" name="Content Placeholder 2"/>
          <p:cNvSpPr>
            <a:spLocks noGrp="1"/>
          </p:cNvSpPr>
          <p:nvPr>
            <p:ph idx="1"/>
          </p:nvPr>
        </p:nvSpPr>
        <p:spPr/>
        <p:txBody>
          <a:bodyPr/>
          <a:lstStyle/>
          <a:p>
            <a:pPr lvl="0"/>
            <a:r>
              <a:rPr/>
              <a:t>LLMs generate text (including code) from probabilistic patterns</a:t>
            </a:r>
          </a:p>
          <a:p>
            <a:pPr lvl="0"/>
            <a:r>
              <a:rPr/>
              <a:t>Microsoft provides both built-in (Copilot) and API-based (Azure OpenAI) options</a:t>
            </a:r>
          </a:p>
          <a:p>
            <a:pPr lvl="0"/>
            <a:r>
              <a:rPr/>
              <a:t>Three practical integration patterns:</a:t>
            </a:r>
          </a:p>
          <a:p>
            <a:pPr lvl="1"/>
            <a:r>
              <a:rPr/>
              <a:t>DAX Generation</a:t>
            </a:r>
          </a:p>
          <a:p>
            <a:pPr lvl="1"/>
            <a:r>
              <a:rPr/>
              <a:t>Narrative Summaries</a:t>
            </a:r>
          </a:p>
          <a:p>
            <a:pPr lvl="1"/>
            <a:r>
              <a:rPr/>
              <a:t>Natural Language Q&amp;A</a:t>
            </a:r>
          </a:p>
          <a:p>
            <a:pPr lvl="0"/>
            <a:r>
              <a:rPr/>
              <a:t>Governance is not optional — plan for it from day one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Steps</a:t>
            </a:r>
          </a:p>
        </p:txBody>
      </p:sp>
      <p:sp>
        <p:nvSpPr>
          <p:cNvPr id="3" name="Content Placeholder 2"/>
          <p:cNvSpPr>
            <a:spLocks noGrp="1"/>
          </p:cNvSpPr>
          <p:nvPr>
            <p:ph idx="1"/>
          </p:nvPr>
        </p:nvSpPr>
        <p:spPr/>
        <p:txBody>
          <a:bodyPr/>
          <a:lstStyle/>
          <a:p>
            <a:pPr lvl="0"/>
            <a:r>
              <a:rPr/>
              <a:t>Enable Fabric Copilot in your workspace (if licensed)</a:t>
            </a:r>
          </a:p>
          <a:p>
            <a:pPr lvl="0"/>
            <a:r>
              <a:rPr/>
              <a:t>Experiment with Azure OpenAI in a dev environment</a:t>
            </a:r>
          </a:p>
          <a:p>
            <a:pPr lvl="0"/>
            <a:r>
              <a:rPr/>
              <a:t>Review Microsoft’s Responsible AI framework</a:t>
            </a:r>
          </a:p>
          <a:p>
            <a:pPr lvl="0"/>
            <a:r>
              <a:rPr/>
              <a:t>Follow the patterns in this repo: </a:t>
            </a:r>
            <a:r>
              <a:rPr>
                <a:hlinkClick r:id="rId3"/>
              </a:rPr>
              <a:t>github.com/kerski/presentations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Resources</a:t>
            </a:r>
          </a:p>
        </p:txBody>
      </p:sp>
      <p:sp>
        <p:nvSpPr>
          <p:cNvPr id="3" name="Content Placeholder 2"/>
          <p:cNvSpPr>
            <a:spLocks noGrp="1"/>
          </p:cNvSpPr>
          <p:nvPr>
            <p:ph idx="1"/>
          </p:nvPr>
        </p:nvSpPr>
        <p:spPr/>
        <p:txBody>
          <a:bodyPr/>
          <a:lstStyle/>
          <a:p>
            <a:pPr lvl="0"/>
            <a:r>
              <a:rPr>
                <a:hlinkClick r:id="rId3"/>
              </a:rPr>
              <a:t>Microsoft Copilot for Power BI</a:t>
            </a:r>
          </a:p>
          <a:p>
            <a:pPr lvl="0"/>
            <a:r>
              <a:rPr>
                <a:hlinkClick r:id="rId4"/>
              </a:rPr>
              <a:t>Azure OpenAI Service</a:t>
            </a:r>
          </a:p>
          <a:p>
            <a:pPr lvl="0"/>
            <a:r>
              <a:rPr>
                <a:hlinkClick r:id="rId5"/>
              </a:rPr>
              <a:t>Microsoft Fabric Notebooks</a:t>
            </a:r>
          </a:p>
          <a:p>
            <a:pPr lvl="0"/>
            <a:r>
              <a:rPr>
                <a:hlinkClick r:id="rId6"/>
              </a:rPr>
              <a:t>Responsible AI at Microsoft</a:t>
            </a:r>
          </a:p>
          <a:p>
            <a:pPr lvl="0"/>
            <a:r>
              <a:rPr>
                <a:hlinkClick r:id="rId7"/>
              </a:rPr>
              <a:t>github.com/kerski/presentations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Q&amp;A</a:t>
            </a:r>
          </a:p>
        </p:txBody>
      </p:sp>
      <p:sp>
        <p:nvSpPr>
          <p:cNvPr id="3" name="Content Placeholder 2"/>
          <p:cNvSpPr>
            <a:spLocks noGrp="1"/>
          </p:cNvSpPr>
          <p:nvPr>
            <p:ph idx="1"/>
          </p:nvPr>
        </p:nvSpPr>
        <p:spPr/>
        <p:txBody>
          <a:bodyPr/>
          <a:lstStyle/>
          <a:p>
            <a:pPr lvl="0" indent="0" marL="0">
              <a:buNone/>
            </a:pPr>
            <a:r>
              <a:rPr/>
              <a:t>Thank you!</a:t>
            </a:r>
          </a:p>
          <a:p>
            <a:pPr lvl="0" indent="0" marL="0">
              <a:buNone/>
            </a:pPr>
            <a:r>
              <a:rPr i="1"/>
              <a:t>Kerski | Day of Data Richmond 2026</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Leveraging Large Language Models with Power BI</dc:title>
  <dc:creator>Kerski</dc:creator>
  <cp:keywords/>
  <dcterms:created xsi:type="dcterms:W3CDTF">2026-04-05T13:02:22Z</dcterms:created>
  <dcterms:modified xsi:type="dcterms:W3CDTF">2026-04-05T13:02:22Z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2026-04-11</vt:lpwstr>
  </property>
  <property fmtid="{D5CDD505-2E9C-101B-9397-08002B2CF9AE}" pid="3" name="event">
    <vt:lpwstr>Day of Data Richmond 2026</vt:lpwstr>
  </property>
</Properties>
</file>